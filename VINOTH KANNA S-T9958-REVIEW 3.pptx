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98"/>
    <a:srgbClr val="30BBDA"/>
    <a:srgbClr val="25B9ED"/>
    <a:srgbClr val="FFFFFF"/>
    <a:srgbClr val="47BDAE"/>
    <a:srgbClr val="47BDAF"/>
    <a:srgbClr val="696969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2.wdp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trychroma.com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hyperlink" Target="https://cheatsheetseries.owasp.org/cheatsheets/Password_Storage_Cheat_Sheet.html" TargetMode="External"/><Relationship Id="rId4" Type="http://schemas.openxmlformats.org/officeDocument/2006/relationships/hyperlink" Target="https://console.groq.com/doc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ake-news-verifier-frontend-a6sb.onrender.com/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ssemblyai.com/docs" TargetMode="External"/><Relationship Id="rId3" Type="http://schemas.openxmlformats.org/officeDocument/2006/relationships/hyperlink" Target="https://react.dev/" TargetMode="External"/><Relationship Id="rId7" Type="http://schemas.openxmlformats.org/officeDocument/2006/relationships/hyperlink" Target="https://html.duckduckgo.com/html/" TargetMode="External"/><Relationship Id="rId2" Type="http://schemas.openxmlformats.org/officeDocument/2006/relationships/hyperlink" Target="https://fastapi.tiangolo.com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ewsapi.org/docs" TargetMode="External"/><Relationship Id="rId11" Type="http://schemas.openxmlformats.org/officeDocument/2006/relationships/image" Target="../media/image6.jpg"/><Relationship Id="rId5" Type="http://schemas.openxmlformats.org/officeDocument/2006/relationships/hyperlink" Target="https://serpapi.com/search-api" TargetMode="External"/><Relationship Id="rId10" Type="http://schemas.openxmlformats.org/officeDocument/2006/relationships/hyperlink" Target="https://github.com/parallax/jsPDF" TargetMode="External"/><Relationship Id="rId4" Type="http://schemas.openxmlformats.org/officeDocument/2006/relationships/hyperlink" Target="https://console.groq.com/docs" TargetMode="External"/><Relationship Id="rId9" Type="http://schemas.openxmlformats.org/officeDocument/2006/relationships/hyperlink" Target="https://huggingface.co/model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VINOTH KANNA 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Enterprise documents vary widely in sensitivity across departments.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RAG grounds LLM answers in real documents, reducing hallucination.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Most RAG systems ignore who is asking — a security gap.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This project enforces RBAC inside the retrieval pipeline itself.</a:t>
            </a:r>
          </a:p>
          <a:p>
            <a:pPr>
              <a:lnSpc>
                <a:spcPct val="150000"/>
              </a:lnSpc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Enforce RBAC at the retrieval layer, not just the UI.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Block unauthorized chunks from ever reaching the LLM.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Give admins tools to manage users and audit logins.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Deliver a working full-stack demo with real authentication.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F2F8-1270-0746-D6B7-A08E1E35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07006-C44A-23BA-A9FE-BB6E30AF34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2D340-ABF6-A9A7-E651-5237BE0FC5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080F99F-A6A5-4331-1E92-E59CA59A15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C57F1B7-4026-42B4-71BB-C506A6796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251D83-7D02-F1D1-D15F-D339E93D860F}"/>
              </a:ext>
            </a:extLst>
          </p:cNvPr>
          <p:cNvSpPr txBox="1"/>
          <p:nvPr/>
        </p:nvSpPr>
        <p:spPr>
          <a:xfrm>
            <a:off x="566067" y="2109324"/>
            <a:ext cx="10004195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1000"/>
              </a:spcBef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cs typeface="Calibri" panose="020F0502020204030204" pitchFamily="34" charset="0"/>
              </a:rPr>
              <a:t>A Retrieval-Augmented Generation System with Role-Based Access Control</a:t>
            </a:r>
          </a:p>
          <a:p>
            <a:pPr marL="342900" indent="-342900" algn="just">
              <a:spcBef>
                <a:spcPts val="1000"/>
              </a:spcBef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IN" sz="2400" dirty="0">
                <a:cs typeface="Calibri" panose="020F0502020204030204" pitchFamily="34" charset="0"/>
              </a:rPr>
              <a:t>Core modules: Data Ingestion &amp; Chunking, Vector Database &amp; Embedding Storage, RBAC Policy Engine, Secure Authentication, RBAC-Filtered Retrieval, RAG Answer Generation, Admin &amp; Audit Module, Document Upload Module, Web Frontend (Node.js).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6CAEC-BC3E-9ED7-C327-9D54E33C8940}"/>
              </a:ext>
            </a:extLst>
          </p:cNvPr>
          <p:cNvSpPr txBox="1"/>
          <p:nvPr/>
        </p:nvSpPr>
        <p:spPr>
          <a:xfrm>
            <a:off x="402524" y="1388930"/>
            <a:ext cx="88545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>
                <a:solidFill>
                  <a:srgbClr val="5583D1"/>
                </a:solidFill>
                <a:cs typeface="Calibri" panose="020F0502020204030204" pitchFamily="34" charset="0"/>
              </a:rPr>
              <a:t>Secure </a:t>
            </a:r>
            <a:r>
              <a:rPr lang="en-IN" sz="2800" dirty="0">
                <a:solidFill>
                  <a:srgbClr val="5583D1"/>
                </a:solidFill>
                <a:cs typeface="Calibri" panose="020F0502020204030204" pitchFamily="34" charset="0"/>
              </a:rPr>
              <a:t>Enterprise Document Intelligence</a:t>
            </a:r>
            <a:endParaRPr lang="en-US" sz="2800" dirty="0">
              <a:solidFill>
                <a:srgbClr val="5583D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AE4199-32E6-FB35-5E57-1AA8DAF0F375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4043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FEAA-9AD4-E67B-C76D-B1412249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9F7AC0-A0F7-D8B0-07D0-A7756AA0956F}"/>
              </a:ext>
            </a:extLst>
          </p:cNvPr>
          <p:cNvSpPr txBox="1"/>
          <p:nvPr/>
        </p:nvSpPr>
        <p:spPr>
          <a:xfrm>
            <a:off x="221274" y="54542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Problem Statement</a:t>
            </a:r>
            <a:endParaRPr lang="en-US" sz="3600" b="1" dirty="0">
              <a:solidFill>
                <a:srgbClr val="5B9BD5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F8AAC8-60DC-F9A1-ED9B-5124D53307D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75D1D11-3DAE-17DE-91F1-A514F99B3F5F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6D183180-D656-528E-0524-0DB3A0C3B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279BE2-278D-EDE2-537C-2A2EC01350D4}"/>
              </a:ext>
            </a:extLst>
          </p:cNvPr>
          <p:cNvSpPr txBox="1"/>
          <p:nvPr/>
        </p:nvSpPr>
        <p:spPr>
          <a:xfrm>
            <a:off x="402524" y="1388930"/>
            <a:ext cx="11789476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cs typeface="Calibri" panose="020F0502020204030204" pitchFamily="34" charset="0"/>
              </a:rPr>
              <a:t>Enterprise documents contain different sensitivity levels.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cs typeface="Calibri" panose="020F0502020204030204" pitchFamily="34" charset="0"/>
              </a:rPr>
              <a:t>Conventional RAG may treat documents as equally accessible.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cs typeface="Calibri" panose="020F0502020204030204" pitchFamily="34" charset="0"/>
              </a:rPr>
              <a:t>This can expose confidential HR, Finance, or Legal data.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cs typeface="Calibri" panose="020F0502020204030204" pitchFamily="34" charset="0"/>
              </a:rPr>
              <a:t>UI-only access control is not sufficient for secure retrieval.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cs typeface="Calibri" panose="020F0502020204030204" pitchFamily="34" charset="0"/>
              </a:rPr>
              <a:t>Unauthorized content may reach the LLM before filtering.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cs typeface="Calibri" panose="020F0502020204030204" pitchFamily="34" charset="0"/>
              </a:rPr>
              <a:t>Need role-based filtering before retrieval and generation.</a:t>
            </a:r>
            <a:endParaRPr lang="en-US" sz="2800" dirty="0"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FAFD5B-BA77-8055-0062-D6149D012D5D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365556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B6943-F3BB-1066-2C2F-8A50C60EAC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971" y="525830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9F823-A3E9-E291-3728-22BC66BD56D4}"/>
              </a:ext>
            </a:extLst>
          </p:cNvPr>
          <p:cNvSpPr txBox="1"/>
          <p:nvPr/>
        </p:nvSpPr>
        <p:spPr>
          <a:xfrm>
            <a:off x="381000" y="1527225"/>
            <a:ext cx="11430000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RAG Implementation: Retrieve relevant and access-approved document chunks before generating responses.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Two-Layer RBAC: Apply role-based access control during retrieval using database-level metadata filtering followed by an independent application-level access check.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Incremental Development: Develop and test modules independently in the sequence: Ingestion → RBAC-filtered Retrieval → Answer Generation → Authentication → Admin Controls → UI Upload.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Role-Based Validation: Execute the same query using different user roles and verify that retrieved content changes according to their access permissions.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cs typeface="Calibri" panose="020F0502020204030204" pitchFamily="34" charset="0"/>
              </a:rPr>
              <a:t>Secure-by-Design: Implement salted password hashing, and audit logging for every login and user query.</a:t>
            </a:r>
            <a:endParaRPr lang="en-IN" sz="2000" dirty="0">
              <a:cs typeface="Calibri" panose="020F050202020403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187139-AD4A-E5F9-A816-67097CC7583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9C99AAF-3325-FDBD-D108-AB7FE8AD77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6" descr="LTM Limited (Formerly LTIMindtree Limited)">
            <a:extLst>
              <a:ext uri="{FF2B5EF4-FFF2-40B4-BE49-F238E27FC236}">
                <a16:creationId xmlns:a16="http://schemas.microsoft.com/office/drawing/2014/main" id="{C9868B98-2E7D-D90F-30E4-84E00353C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CF686F-D819-DEC9-16F6-A4AFF1F3261C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258162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A08C-48EB-D632-7F4E-F41E47E8D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CA176-22D3-1F5E-C630-C1E9C3634AB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971" y="525830"/>
            <a:ext cx="10624338" cy="444565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Confidentiality Levels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C946B68-5045-6063-566B-F50742057703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F43AF6E-5D3C-F81C-D955-60AD05D4876F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6" descr="LTM Limited (Formerly LTIMindtree Limited)">
            <a:extLst>
              <a:ext uri="{FF2B5EF4-FFF2-40B4-BE49-F238E27FC236}">
                <a16:creationId xmlns:a16="http://schemas.microsoft.com/office/drawing/2014/main" id="{0E3ADC71-41D0-57A7-AF39-E157B87DC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45FE6D-9D8D-55A3-1570-78E54779CBE2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C618716-9887-E9DE-9306-E41090BB3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9793207"/>
              </p:ext>
            </p:extLst>
          </p:nvPr>
        </p:nvGraphicFramePr>
        <p:xfrm>
          <a:off x="593725" y="2607446"/>
          <a:ext cx="1100454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8183">
                  <a:extLst>
                    <a:ext uri="{9D8B030D-6E8A-4147-A177-3AD203B41FA5}">
                      <a16:colId xmlns:a16="http://schemas.microsoft.com/office/drawing/2014/main" val="2344370783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4023245694"/>
                    </a:ext>
                  </a:extLst>
                </a:gridCol>
                <a:gridCol w="3668183">
                  <a:extLst>
                    <a:ext uri="{9D8B030D-6E8A-4147-A177-3AD203B41FA5}">
                      <a16:colId xmlns:a16="http://schemas.microsoft.com/office/drawing/2014/main" val="21487352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</a:rPr>
                        <a:t>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Allowed 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Max Level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40965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 (Public)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7504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General, Engineering,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(Internal)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543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engineering_manager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General, Engineering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(Confidential)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8768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hr_manager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General, 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(Confidential)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3052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finance_manager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General, 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 (Confidential)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1940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legal_counsel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General, Legal, HR, 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(Restricted)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5175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 (Restricted)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86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 (Restricted)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918270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337B9AC-3767-C61B-2164-51DA3DABA42F}"/>
              </a:ext>
            </a:extLst>
          </p:cNvPr>
          <p:cNvSpPr txBox="1"/>
          <p:nvPr/>
        </p:nvSpPr>
        <p:spPr>
          <a:xfrm>
            <a:off x="593725" y="1355873"/>
            <a:ext cx="61014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Level 0 — Public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Level 1 — Internal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Level 2 — Confidential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Level 3 — Restricted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876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BCD9-2D05-4CD8-87F8-014CABE2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645A6-806E-1017-9DD8-1896804CD5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971" y="525830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Approach / Algorithms /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050FD8-ACA6-A719-5665-B333F586F69B}"/>
              </a:ext>
            </a:extLst>
          </p:cNvPr>
          <p:cNvSpPr txBox="1"/>
          <p:nvPr/>
        </p:nvSpPr>
        <p:spPr>
          <a:xfrm>
            <a:off x="387971" y="1318629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1C4D98"/>
                </a:solidFill>
              </a:rPr>
              <a:t>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949D1-649B-0A2F-6975-C87F7F8078C1}"/>
              </a:ext>
            </a:extLst>
          </p:cNvPr>
          <p:cNvSpPr txBox="1"/>
          <p:nvPr/>
        </p:nvSpPr>
        <p:spPr>
          <a:xfrm>
            <a:off x="387971" y="1954970"/>
            <a:ext cx="11461522" cy="3083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b="1" dirty="0"/>
              <a:t>Backend:</a:t>
            </a:r>
            <a:r>
              <a:rPr lang="en-IN" sz="2000" dirty="0"/>
              <a:t> Python, </a:t>
            </a:r>
            <a:r>
              <a:rPr lang="en-IN" sz="2000" dirty="0" err="1"/>
              <a:t>FastAPI</a:t>
            </a:r>
            <a:r>
              <a:rPr lang="en-IN" sz="2000" dirty="0"/>
              <a:t> (REST API layer).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Frontend:</a:t>
            </a:r>
            <a:r>
              <a:rPr lang="en-IN" sz="2000" dirty="0"/>
              <a:t> Node.js</a:t>
            </a:r>
          </a:p>
          <a:p>
            <a:pPr algn="just">
              <a:lnSpc>
                <a:spcPct val="200000"/>
              </a:lnSpc>
            </a:pPr>
            <a:r>
              <a:rPr lang="en-IN" sz="2000" b="1" dirty="0"/>
              <a:t>Document processing:</a:t>
            </a:r>
            <a:r>
              <a:rPr lang="en-IN" sz="2000" dirty="0"/>
              <a:t> custom chunking (character-based, overlapping windows); text extraction for .txt, .md, .csv, .</a:t>
            </a:r>
            <a:r>
              <a:rPr lang="en-IN" sz="2000" dirty="0" err="1"/>
              <a:t>json</a:t>
            </a:r>
            <a:r>
              <a:rPr lang="en-IN" sz="2000" dirty="0"/>
              <a:t>, .docx, and .pdf uploads.</a:t>
            </a:r>
          </a:p>
          <a:p>
            <a:pPr algn="just" rtl="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D799074-FD43-34D0-B0E0-53A6560208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C52F0D5-CB5E-EC37-D636-90C9328315D5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6" descr="LTM Limited (Formerly LTIMindtree Limited)">
            <a:extLst>
              <a:ext uri="{FF2B5EF4-FFF2-40B4-BE49-F238E27FC236}">
                <a16:creationId xmlns:a16="http://schemas.microsoft.com/office/drawing/2014/main" id="{65184212-5C41-C993-9A10-1154B578C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A9B4192-6DE9-B8E9-D800-B4BF11037360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3010195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0330E-EA9B-FE37-F3B5-B22655DA4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E448C-572A-95B8-7956-0986C042FF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7971" y="644428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Findings and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A7E5F5-D74F-DE9C-995A-AA8D34C00E1F}"/>
              </a:ext>
            </a:extLst>
          </p:cNvPr>
          <p:cNvSpPr txBox="1"/>
          <p:nvPr/>
        </p:nvSpPr>
        <p:spPr>
          <a:xfrm>
            <a:off x="387971" y="1841849"/>
            <a:ext cx="5370136" cy="3479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RBAC Validation: </a:t>
            </a:r>
            <a:r>
              <a:rPr lang="en-US" sz="1400" dirty="0"/>
              <a:t>Identical queries from different roles returned different or no results based on permitted departments and confidentiality levels.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Two-Layer Security: </a:t>
            </a:r>
            <a:r>
              <a:rPr lang="en-US" sz="1400" dirty="0"/>
              <a:t>Database filtering and application-level re-checks successfully blocked unauthorized chunks, including role-boundary edge cases.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Password Security: </a:t>
            </a:r>
            <a:r>
              <a:rPr lang="en-US" sz="1400" dirty="0"/>
              <a:t>Plaintext passwords were never stored, and disabled accounts were rejected even with valid credentials.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BB1EC2-8E23-B03E-7365-B066EA01CA7B}"/>
              </a:ext>
            </a:extLst>
          </p:cNvPr>
          <p:cNvSpPr txBox="1"/>
          <p:nvPr/>
        </p:nvSpPr>
        <p:spPr>
          <a:xfrm>
            <a:off x="5758107" y="1399165"/>
            <a:ext cx="6094428" cy="3048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endParaRPr lang="en-US" sz="1400" dirty="0"/>
          </a:p>
          <a:p>
            <a:pPr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Secure Document Upload: </a:t>
            </a:r>
            <a:r>
              <a:rPr lang="en-US" sz="1400" dirty="0"/>
              <a:t>Uploaded documents became searchable after indexing while maintaining department and confidentiality restrictions.</a:t>
            </a:r>
          </a:p>
          <a:p>
            <a:pPr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Admin Controls</a:t>
            </a:r>
            <a:r>
              <a:rPr lang="en-US" sz="1400" dirty="0"/>
              <a:t>: User creation, removal, enable/disable functions, and CSV audit-log export were successfully validated.</a:t>
            </a:r>
          </a:p>
          <a:p>
            <a:pPr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Grounded Responses: </a:t>
            </a:r>
            <a:r>
              <a:rPr lang="en-US" sz="1400" dirty="0" err="1"/>
              <a:t>Groq</a:t>
            </a:r>
            <a:r>
              <a:rPr lang="en-US" sz="1400" dirty="0"/>
              <a:t> API generated source-cited answers, with extractive-answer fallback when an API key was unavailable.</a:t>
            </a:r>
            <a:endParaRPr lang="en-IN" sz="14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8C8F622-A6CD-1885-815C-D8CD78F855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610A067-7738-69B0-14E4-53075789FDEA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6" descr="LTM Limited (Formerly LTIMindtree Limited)">
            <a:extLst>
              <a:ext uri="{FF2B5EF4-FFF2-40B4-BE49-F238E27FC236}">
                <a16:creationId xmlns:a16="http://schemas.microsoft.com/office/drawing/2014/main" id="{2842E173-376A-E8D4-1249-C1343A633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71801F-F895-A1F0-8BE9-5D541606DD02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3238068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9DC3-C617-B6F6-DDA6-89A6C3E3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03BB-9679-45B9-CE98-76849C5508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6186" y="582391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fr-FR" sz="3600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lang="en-IN" sz="3600" dirty="0">
              <a:solidFill>
                <a:srgbClr val="5B9BD5">
                  <a:lumMod val="50000"/>
                </a:srgb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3D944-8F5C-6BBC-B327-0010147A0E8C}"/>
              </a:ext>
            </a:extLst>
          </p:cNvPr>
          <p:cNvSpPr txBox="1"/>
          <p:nvPr/>
        </p:nvSpPr>
        <p:spPr>
          <a:xfrm>
            <a:off x="529307" y="1691020"/>
            <a:ext cx="10624338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 sincerely thank </a:t>
            </a:r>
            <a:r>
              <a:rPr lang="en-US" sz="2000" b="1" dirty="0"/>
              <a:t>LTM and L&amp;T </a:t>
            </a:r>
            <a:r>
              <a:rPr lang="en-US" sz="2000" b="1" dirty="0" err="1"/>
              <a:t>EduTech</a:t>
            </a:r>
            <a:r>
              <a:rPr lang="en-US" sz="2000" dirty="0"/>
              <a:t> for providing the infrastructure, laptop, training room, ID card, and a valuable 2-month opportunity to enhance my technical skills through practical project development. I express my special gratitude to </a:t>
            </a:r>
            <a:r>
              <a:rPr lang="en-US" sz="2000" b="1" dirty="0"/>
              <a:t>Dr. Ganesh</a:t>
            </a:r>
            <a:r>
              <a:rPr lang="en-US" sz="2000" dirty="0"/>
              <a:t> for his continuous guidance, valuable suggestions, and support in improving my project. I also thank the </a:t>
            </a:r>
            <a:r>
              <a:rPr lang="en-US" sz="2000" b="1" dirty="0"/>
              <a:t>Classroom Managers</a:t>
            </a:r>
            <a:r>
              <a:rPr lang="en-US" sz="2000" dirty="0"/>
              <a:t> for their daily monitoring, coordination, and assistance in resolving issues. Finally, my special thanks to </a:t>
            </a:r>
            <a:r>
              <a:rPr lang="en-US" sz="2000" b="1" dirty="0"/>
              <a:t>Mr. Jayakanthan, Manager – Delivery Operations, L&amp;T </a:t>
            </a:r>
            <a:r>
              <a:rPr lang="en-US" sz="2000" b="1" dirty="0" err="1"/>
              <a:t>EduTech</a:t>
            </a:r>
            <a:r>
              <a:rPr lang="en-US" sz="2000" dirty="0"/>
              <a:t>, for his encouragement, support, and for providing this valuable opportunity.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FD0D473-EB46-B409-2D73-FFDCE34234F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F7680AE-09E8-47E5-8B99-953A0CFA753E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6" descr="LTM Limited (Formerly LTIMindtree Limited)">
            <a:extLst>
              <a:ext uri="{FF2B5EF4-FFF2-40B4-BE49-F238E27FC236}">
                <a16:creationId xmlns:a16="http://schemas.microsoft.com/office/drawing/2014/main" id="{67402B95-0729-3D60-777C-35E079C80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310D52-E30B-7A7D-A90F-D4D5186E1518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343740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B38DB-4A9C-8883-5629-B1B3CD16E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7E8C7-3BD4-BEF6-20F2-4EF5A0240A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9307" y="506976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A5DCE-1E22-06BA-0DBF-03D9EC91C071}"/>
              </a:ext>
            </a:extLst>
          </p:cNvPr>
          <p:cNvSpPr txBox="1"/>
          <p:nvPr/>
        </p:nvSpPr>
        <p:spPr>
          <a:xfrm>
            <a:off x="529307" y="1111797"/>
            <a:ext cx="10624338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SentinelRAG</a:t>
            </a:r>
            <a:r>
              <a:rPr lang="en-US" sz="2000" dirty="0"/>
              <a:t> demonstrates that Role-Based Access Control can be embedded directly into a RAG retrieval pipeline, closing a gap left by conventional RAG implementations that assume uniform access to a shared corpus.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defense-in-depth design — enforcing access rules at both the database and application layers — provides resilience against misconfiguration at any single layer.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system was built and validated as a complete, working full-stack application, covering authentication, retrieval, generation, administration, and document management.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approach is directly applicable to real enterprise deployments where sensitive, department-specific knowledge must be made searchable without compromising confidentiality.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Future work includes integrating a real identity provider (e.g., Okta or Azure AD), supporting multi-tenant deployments, and extending audit logging into a dedicated compliance datastore.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ED62186-FD78-6BA8-FD6D-E28BC13B102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4318B906-5989-3E45-80C2-98E81D502C8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6" descr="LTM Limited (Formerly LTIMindtree Limited)">
            <a:extLst>
              <a:ext uri="{FF2B5EF4-FFF2-40B4-BE49-F238E27FC236}">
                <a16:creationId xmlns:a16="http://schemas.microsoft.com/office/drawing/2014/main" id="{0E3E7EA3-2206-B0F3-37A0-19DCD17FE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A7C411-F1D4-B6F9-E86F-D5DD023E1FC5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1974125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96441-F9F2-D11C-5B38-72F73928474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3600" dirty="0">
                <a:solidFill>
                  <a:schemeClr val="accent1">
                    <a:lumMod val="75000"/>
                  </a:schemeClr>
                </a:solidFill>
              </a:rPr>
              <a:t>Result: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AC60F5-0485-F351-B9DB-8526082C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70" y="1659661"/>
            <a:ext cx="5513561" cy="3111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AB200B-728B-8971-267A-630C4A45CB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23" y="1659661"/>
            <a:ext cx="5847990" cy="311141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61FF6A7-01EC-963D-BB67-FF75FA1FC4A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FA86A2A1-5AE0-AE92-E2C4-FD9F0048299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" name="Picture 6" descr="LTM Limited (Formerly LTIMindtree Limited)">
            <a:extLst>
              <a:ext uri="{FF2B5EF4-FFF2-40B4-BE49-F238E27FC236}">
                <a16:creationId xmlns:a16="http://schemas.microsoft.com/office/drawing/2014/main" id="{FEFB6151-67EF-8021-0193-E409D9209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EB193F-40CB-5E58-00A7-711771439ADF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320275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C2D6-A179-4FD6-F26D-061460DF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04000-EF5D-6026-C902-B12BB5707D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9307" y="659592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fr-FR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Reference</a:t>
            </a:r>
            <a:endParaRPr lang="en-IN" sz="3600" dirty="0">
              <a:solidFill>
                <a:srgbClr val="5B9BD5">
                  <a:lumMod val="50000"/>
                </a:srgb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11E33-32A8-DEC6-5A96-16899F0D606E}"/>
              </a:ext>
            </a:extLst>
          </p:cNvPr>
          <p:cNvSpPr txBox="1"/>
          <p:nvPr/>
        </p:nvSpPr>
        <p:spPr>
          <a:xfrm>
            <a:off x="529307" y="1691020"/>
            <a:ext cx="10624338" cy="4507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/>
              <a:t>Lewis, P., et al. (2020). </a:t>
            </a:r>
            <a:r>
              <a:rPr lang="en-IN" sz="2000" i="1" dirty="0"/>
              <a:t>Retrieval-Augmented Generation for Knowledge-Intensive NLP Tasks.</a:t>
            </a:r>
            <a:r>
              <a:rPr lang="en-IN" sz="2000" dirty="0"/>
              <a:t> Advances in Neural Information Processing Systems (</a:t>
            </a:r>
            <a:r>
              <a:rPr lang="en-IN" sz="2000" dirty="0" err="1"/>
              <a:t>NeurIPS</a:t>
            </a:r>
            <a:r>
              <a:rPr lang="en-IN" sz="20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Reimers, N., &amp; </a:t>
            </a:r>
            <a:r>
              <a:rPr lang="en-IN" sz="2000" dirty="0" err="1"/>
              <a:t>Gurevych</a:t>
            </a:r>
            <a:r>
              <a:rPr lang="en-IN" sz="2000" dirty="0"/>
              <a:t>, I. (2019). </a:t>
            </a:r>
            <a:r>
              <a:rPr lang="en-IN" sz="2000" i="1" dirty="0"/>
              <a:t>Sentence-BERT: Sentence Embeddings using Siamese BERT-Networks.</a:t>
            </a:r>
            <a:r>
              <a:rPr lang="en-IN" sz="2000" dirty="0"/>
              <a:t> Proceedings of EMNLP-IJCNLP.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Sandhu, R. S., Coyne, E. J., Feinstein, H. L., &amp; Youman, C. E. (1996). </a:t>
            </a:r>
            <a:r>
              <a:rPr lang="en-IN" sz="2000" i="1" dirty="0"/>
              <a:t>Role-Based Access Control Models.</a:t>
            </a:r>
            <a:r>
              <a:rPr lang="en-IN" sz="2000" dirty="0"/>
              <a:t> IEEE Computer, 29(2), 38–47.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 err="1"/>
              <a:t>FastAPI</a:t>
            </a:r>
            <a:r>
              <a:rPr lang="en-IN" sz="2000" dirty="0"/>
              <a:t> Documentation. </a:t>
            </a:r>
            <a:r>
              <a:rPr lang="en-IN" sz="2000" dirty="0">
                <a:hlinkClick r:id="rId2"/>
              </a:rPr>
              <a:t>https://fastapi.tiangolo.com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 err="1"/>
              <a:t>ChromaDB</a:t>
            </a:r>
            <a:r>
              <a:rPr lang="en-IN" sz="2000" dirty="0"/>
              <a:t> Documentation. </a:t>
            </a:r>
            <a:r>
              <a:rPr lang="en-IN" sz="2000" dirty="0">
                <a:hlinkClick r:id="rId3"/>
              </a:rPr>
              <a:t>https://docs.trychroma.com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 err="1"/>
              <a:t>Groq</a:t>
            </a:r>
            <a:r>
              <a:rPr lang="en-IN" sz="2000" dirty="0"/>
              <a:t> API Documentation. </a:t>
            </a:r>
            <a:r>
              <a:rPr lang="en-IN" sz="2000" dirty="0">
                <a:hlinkClick r:id="rId4"/>
              </a:rPr>
              <a:t>https://console.groq.com/docs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NIST Special Publication 800-63B. </a:t>
            </a:r>
            <a:r>
              <a:rPr lang="en-IN" sz="2000" i="1" dirty="0"/>
              <a:t>Digital Identity Guidelines: Authentication and Lifecycle Management.</a:t>
            </a:r>
            <a:endParaRPr lang="en-IN" sz="2000" dirty="0"/>
          </a:p>
          <a:p>
            <a:pPr marL="457200" indent="-457200">
              <a:buFont typeface="+mj-lt"/>
              <a:buAutoNum type="arabicPeriod"/>
            </a:pPr>
            <a:r>
              <a:rPr lang="en-IN" sz="2000" dirty="0"/>
              <a:t>OWASP Password Storage Cheat Sheet. </a:t>
            </a:r>
            <a:r>
              <a:rPr lang="en-IN" sz="2000" dirty="0">
                <a:hlinkClick r:id="rId5"/>
              </a:rPr>
              <a:t>https://cheatsheetseries.owasp.org/cheatsheets/Password_Storage_Cheat_Sheet.html</a:t>
            </a:r>
            <a:endParaRPr lang="en-IN" sz="2000" dirty="0"/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endParaRPr lang="en-US" sz="2000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1C9724-783C-315C-0866-BCBB5C299B4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A166BA7-D36C-BC1B-1C1A-F09F2D08E9C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6" descr="LTM Limited (Formerly LTIMindtree Limited)">
            <a:extLst>
              <a:ext uri="{FF2B5EF4-FFF2-40B4-BE49-F238E27FC236}">
                <a16:creationId xmlns:a16="http://schemas.microsoft.com/office/drawing/2014/main" id="{06DB8785-B024-CB7B-00B8-4EB7FC7C9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71521-C4D0-4E66-CE49-DB094E7BB8D9}"/>
              </a:ext>
            </a:extLst>
          </p:cNvPr>
          <p:cNvSpPr txBox="1"/>
          <p:nvPr/>
        </p:nvSpPr>
        <p:spPr>
          <a:xfrm>
            <a:off x="3912125" y="57036"/>
            <a:ext cx="82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for Secure Enterprise</a:t>
            </a:r>
            <a:r>
              <a:rPr lang="en-US" dirty="0"/>
              <a:t>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Intelligence Using Role-Based Access Control (RBAC)</a:t>
            </a:r>
          </a:p>
        </p:txBody>
      </p:sp>
    </p:spTree>
    <p:extLst>
      <p:ext uri="{BB962C8B-B14F-4D97-AF65-F5344CB8AC3E}">
        <p14:creationId xmlns:p14="http://schemas.microsoft.com/office/powerpoint/2010/main" val="134698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34616" y="1631542"/>
            <a:ext cx="114281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 &amp; Explainable Trust Assessment</a:t>
            </a:r>
          </a:p>
          <a:p>
            <a:pPr algn="ctr"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VINOTH KANNA S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CRESCENT 2025-27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000795"/>
              </p:ext>
            </p:extLst>
          </p:nvPr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F0C71D-D9A7-2E72-176A-2DAF9A8E5B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4443" y="5108304"/>
            <a:ext cx="4201139" cy="210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357505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Fake news spreads rapidly through social media and digital platforms.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Traditional fact-checking is slow and difficult to scale.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Existing AI models often give results without clear reasoning.</a:t>
            </a:r>
          </a:p>
          <a:p>
            <a:pPr>
              <a:lnSpc>
                <a:spcPct val="15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This project uses Agentic AI to verify claims, collect evidence, and provide an explainable trust score.</a:t>
            </a:r>
          </a:p>
          <a:p>
            <a:pPr>
              <a:lnSpc>
                <a:spcPct val="150000"/>
              </a:lnSpc>
            </a:pP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456411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BCCFA-EF04-B2CC-C841-FEA7F8E80249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7" name="Picture 6" descr="LTM Limited (Formerly LTIMindtree Limited)">
            <a:extLst>
              <a:ext uri="{FF2B5EF4-FFF2-40B4-BE49-F238E27FC236}">
                <a16:creationId xmlns:a16="http://schemas.microsoft.com/office/drawing/2014/main" id="{1E1CD245-7E67-BEF3-30D0-C204868571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523255"/>
            <a:ext cx="10624338" cy="4142989"/>
          </a:xfrm>
        </p:spPr>
        <p:txBody>
          <a:bodyPr/>
          <a:lstStyle/>
          <a:p>
            <a:pPr algn="just"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Build a Multi-Agent System – Use Claim Extraction Agent, Evidence Retrieval Agent, Source Credibility Agent, Cross-Reference Agent, and Verdict Agent for automated fact-checking.</a:t>
            </a:r>
          </a:p>
          <a:p>
            <a:pPr algn="just"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Verify Claims – Analyze evidence and source credibility through cross-checking.</a:t>
            </a:r>
          </a:p>
          <a:p>
            <a:pPr algn="just"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Generate Trust Scores – Provide explainable trust scores with confidence levels.</a:t>
            </a:r>
          </a:p>
          <a:p>
            <a:pPr algn="just">
              <a:lnSpc>
                <a:spcPct val="100000"/>
              </a:lnSpc>
              <a:spcAft>
                <a:spcPts val="1600"/>
              </a:spcAft>
              <a:buSzPct val="100000"/>
            </a:pPr>
            <a:r>
              <a:rPr lang="en-US" sz="2400" b="0" dirty="0">
                <a:solidFill>
                  <a:schemeClr val="tx1"/>
                </a:solidFill>
                <a:latin typeface="+mn-lt"/>
              </a:rPr>
              <a:t>Reduce Bias &amp; Ensure Auditability – Use self-checking and maintain an evidence trail.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5C4E5AD-F938-3DF0-87EB-B33473518C21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49017-0E91-F5C7-E849-0D494C0313E7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6" descr="LTM Limited (Formerly LTIMindtree Limited)">
            <a:extLst>
              <a:ext uri="{FF2B5EF4-FFF2-40B4-BE49-F238E27FC236}">
                <a16:creationId xmlns:a16="http://schemas.microsoft.com/office/drawing/2014/main" id="{72D1A61C-8BDB-B51A-40AE-E9C0B25CB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8F2F8-1270-0746-D6B7-A08E1E350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B07006-C44A-23BA-A9FE-BB6E30AF34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</a:t>
            </a: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Name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722D340-ABF6-A9A7-E651-5237BE0FC5B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080F99F-A6A5-4331-1E92-E59CA59A15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8" name="Picture 6" descr="LTM Limited (Formerly LTIMindtree Limited)">
            <a:extLst>
              <a:ext uri="{FF2B5EF4-FFF2-40B4-BE49-F238E27FC236}">
                <a16:creationId xmlns:a16="http://schemas.microsoft.com/office/drawing/2014/main" id="{5C57F1B7-4026-42B4-71BB-C506A6796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59ECE7-F508-B1EF-3CB3-3A8B0CB8FC1B}"/>
              </a:ext>
            </a:extLst>
          </p:cNvPr>
          <p:cNvSpPr txBox="1"/>
          <p:nvPr/>
        </p:nvSpPr>
        <p:spPr>
          <a:xfrm>
            <a:off x="4081808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               Agentic AI Multi-Agent Architecture for Automated Fake News Verification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251D83-7D02-F1D1-D15F-D339E93D860F}"/>
              </a:ext>
            </a:extLst>
          </p:cNvPr>
          <p:cNvSpPr txBox="1"/>
          <p:nvPr/>
        </p:nvSpPr>
        <p:spPr>
          <a:xfrm>
            <a:off x="402523" y="2583091"/>
            <a:ext cx="10004195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1"/>
                </a:solidFill>
              </a:rPr>
              <a:t>Core modules:</a:t>
            </a: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Input &amp; Ingestion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Search &amp; Source Discovery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Web Scraping &amp; Content Extraction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Trust Scoring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AI Summarization Module (LLM-based)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Report Generation &amp; User Interface Module</a:t>
            </a:r>
          </a:p>
          <a:p>
            <a:pPr marL="342900" indent="-342900">
              <a:spcBef>
                <a:spcPts val="1000"/>
              </a:spcBef>
              <a:spcAft>
                <a:spcPts val="1600"/>
              </a:spcAft>
              <a:buSzPct val="100000"/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5583D1"/>
              </a:solidFill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6CAEC-BC3E-9ED7-C327-9D54E33C8940}"/>
              </a:ext>
            </a:extLst>
          </p:cNvPr>
          <p:cNvSpPr txBox="1"/>
          <p:nvPr/>
        </p:nvSpPr>
        <p:spPr>
          <a:xfrm>
            <a:off x="402523" y="1388930"/>
            <a:ext cx="107493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Fake News Verifier Agent</a:t>
            </a:r>
            <a:r>
              <a:rPr lang="en-IN" sz="2800" dirty="0">
                <a:solidFill>
                  <a:schemeClr val="accent1"/>
                </a:solidFill>
              </a:rPr>
              <a:t> — an AI-based Multi-Agent Fact-Checking System</a:t>
            </a:r>
          </a:p>
        </p:txBody>
      </p:sp>
    </p:spTree>
    <p:extLst>
      <p:ext uri="{BB962C8B-B14F-4D97-AF65-F5344CB8AC3E}">
        <p14:creationId xmlns:p14="http://schemas.microsoft.com/office/powerpoint/2010/main" val="404313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AEDE96-9389-45C6-53B6-CD7CAEDD645C}"/>
              </a:ext>
            </a:extLst>
          </p:cNvPr>
          <p:cNvSpPr txBox="1"/>
          <p:nvPr/>
        </p:nvSpPr>
        <p:spPr>
          <a:xfrm>
            <a:off x="388856" y="1352649"/>
            <a:ext cx="11234393" cy="4610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Fake and misleading news spreads rapidly across digital platforms, influencing public opinion before it can be verified.</a:t>
            </a:r>
          </a:p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Existing fact-checking is largely manual, centralized (a few fact-checking organizations), and cannot keep pace with the volume of daily claims.</a:t>
            </a:r>
          </a:p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Users have no quick, trustworthy way to check a claim themselves before sharing it, especially when the claim arrives as a link, a forwarded message, or a voice note.</a:t>
            </a:r>
          </a:p>
          <a:p>
            <a:pPr marL="457200" indent="-457200" algn="just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There is a need for an automated, source-backed, explainable system that can verify a claim in near real-time and show </a:t>
            </a:r>
            <a:r>
              <a:rPr lang="en-US" sz="2200" i="1" dirty="0"/>
              <a:t>why</a:t>
            </a:r>
            <a:r>
              <a:rPr lang="en-US" sz="2200" dirty="0"/>
              <a:t> it reached its conclusion — not just a black-box "true/false" label.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53145-770D-BDFA-4D7C-809CEC0FDBB5}"/>
              </a:ext>
            </a:extLst>
          </p:cNvPr>
          <p:cNvSpPr txBox="1"/>
          <p:nvPr/>
        </p:nvSpPr>
        <p:spPr>
          <a:xfrm>
            <a:off x="221274" y="571820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D5A110C-26B9-A7FA-B41A-CEDAC437430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75B390C-F6C5-2223-F89A-D59458866B7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" name="Picture 9" descr="LTM Limited (Formerly LTIMindtree Limited)">
            <a:extLst>
              <a:ext uri="{FF2B5EF4-FFF2-40B4-BE49-F238E27FC236}">
                <a16:creationId xmlns:a16="http://schemas.microsoft.com/office/drawing/2014/main" id="{5F855DCB-903E-5872-5D27-EE2D2A2B3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C89B7D-41BB-6DE2-D3F3-6E4476548F24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2058429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8D9A8-1495-965F-3649-3D9EFA7FF1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11391" y="488123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  <a:cs typeface="+mn-cs"/>
              </a:rPr>
              <a:t>Methodology</a:t>
            </a:r>
            <a:endParaRPr lang="en-IN" sz="3600" dirty="0">
              <a:solidFill>
                <a:srgbClr val="5B9BD5">
                  <a:lumMod val="50000"/>
                </a:srgb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647C14-E22B-DE56-1052-9DE63FCC60D6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1" name="Picture 50" descr="LTM Limited (Formerly LTIMindtree Limited)">
            <a:extLst>
              <a:ext uri="{FF2B5EF4-FFF2-40B4-BE49-F238E27FC236}">
                <a16:creationId xmlns:a16="http://schemas.microsoft.com/office/drawing/2014/main" id="{AA6FAB58-83CC-147C-38C1-C17802E89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23AA8D7-D177-BF15-EAE7-29965C7B8E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0F8EE04-D21C-002A-FEDA-9A3C2D7FDC81}"/>
              </a:ext>
            </a:extLst>
          </p:cNvPr>
          <p:cNvSpPr txBox="1"/>
          <p:nvPr/>
        </p:nvSpPr>
        <p:spPr>
          <a:xfrm>
            <a:off x="457199" y="1418927"/>
            <a:ext cx="1081725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Font typeface="+mj-lt"/>
              <a:buAutoNum type="arabicPeriod"/>
            </a:pPr>
            <a:r>
              <a:rPr lang="en-US" b="1" dirty="0"/>
              <a:t>Input collection</a:t>
            </a:r>
            <a:r>
              <a:rPr lang="en-US" dirty="0"/>
              <a:t> — The user submits a claim as text, a URL, or a recorded voice clip (transcribed to text via speech-to-text).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Query formulation</a:t>
            </a:r>
            <a:r>
              <a:rPr lang="en-US" dirty="0"/>
              <a:t> — The claim is parsed into a search-friendly query.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Multi-source search</a:t>
            </a:r>
            <a:r>
              <a:rPr lang="en-US" dirty="0"/>
              <a:t> — The system queries several independent sources in parallel (news search APIs, a general web search engine, and an encyclopedic source) to gather candidate URLs related to the claim.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De-duplication &amp; ranking</a:t>
            </a:r>
            <a:r>
              <a:rPr lang="en-US" dirty="0"/>
              <a:t> — Candidate URLs are merged, duplicates removed, and the most relevant ones selected for deeper analysis (more than 10 sources considered per query).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Content scraping</a:t>
            </a:r>
            <a:r>
              <a:rPr lang="en-US" dirty="0"/>
              <a:t> — The top candidate articles are fetched and their main text extracted (ignoring ads, navigation, boilerplate).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Evidence-based scoring</a:t>
            </a:r>
            <a:r>
              <a:rPr lang="en-US" dirty="0"/>
              <a:t> — A trust-scoring agent compares the claim against the scraped excerpts and computes a numeric trust score.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AI summarization</a:t>
            </a:r>
            <a:r>
              <a:rPr lang="en-US" dirty="0"/>
              <a:t> — A large language model (LLM) reads the excerpts and the claim, and produces a plain-English explanation of whether the evidence supports, contradicts, or is inconclusive about the claim.</a:t>
            </a:r>
          </a:p>
          <a:p>
            <a:pPr algn="just" rtl="0">
              <a:buFont typeface="+mj-lt"/>
              <a:buAutoNum type="arabicPeriod"/>
            </a:pPr>
            <a:r>
              <a:rPr lang="en-US" b="1" dirty="0"/>
              <a:t>Result presentation</a:t>
            </a:r>
            <a:r>
              <a:rPr lang="en-US" dirty="0"/>
              <a:t> — The verdict, trust score, AI summary, and the list of cited sources are displayed to the user, with an option to download a PDF report.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4A9C2-E3A2-5842-6B84-FA8E5830FE15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18347148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C2333E8B-B1AE-1413-BF17-F923C6644F81}"/>
              </a:ext>
            </a:extLst>
          </p:cNvPr>
          <p:cNvSpPr txBox="1"/>
          <p:nvPr/>
        </p:nvSpPr>
        <p:spPr>
          <a:xfrm>
            <a:off x="356616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ea typeface="Cambria" panose="02040503050406030204" pitchFamily="18" charset="0"/>
                <a:cs typeface="Cambria" pitchFamily="34" charset="-120"/>
              </a:rPr>
              <a:t>Approach, Algorithms &amp; Tools</a:t>
            </a:r>
            <a:endParaRPr lang="en-US" sz="3600" dirty="0">
              <a:solidFill>
                <a:schemeClr val="accent1">
                  <a:lumMod val="75000"/>
                </a:schemeClr>
              </a:solidFill>
              <a:ea typeface="Cambria" panose="02040503050406030204" pitchFamily="18" charset="0"/>
            </a:endParaRPr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4B83C77E-E6D4-F684-908C-1D14C67A70D2}"/>
              </a:ext>
            </a:extLst>
          </p:cNvPr>
          <p:cNvSpPr txBox="1"/>
          <p:nvPr/>
        </p:nvSpPr>
        <p:spPr>
          <a:xfrm>
            <a:off x="4379976" y="58521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
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7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summarization</a:t>
            </a:r>
            <a:endParaRPr lang="en-US" sz="125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86B715-0BD4-FFF7-2127-707A52F17E9B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65" name="Picture 64" descr="LTM Limited (Formerly LTIMindtree Limited)">
            <a:extLst>
              <a:ext uri="{FF2B5EF4-FFF2-40B4-BE49-F238E27FC236}">
                <a16:creationId xmlns:a16="http://schemas.microsoft.com/office/drawing/2014/main" id="{BDA4C51A-73A5-7BAE-0960-D31745357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7130E7-D8B3-E0AA-DAE7-2CC54C302F3A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F7CB58C-0FD0-D5B6-305A-4E8433C2F12B}"/>
              </a:ext>
            </a:extLst>
          </p:cNvPr>
          <p:cNvSpPr/>
          <p:nvPr/>
        </p:nvSpPr>
        <p:spPr>
          <a:xfrm>
            <a:off x="1682496" y="132588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EEEF8FB-4679-42D5-7833-3BF0CD30C2F4}"/>
              </a:ext>
            </a:extLst>
          </p:cNvPr>
          <p:cNvSpPr txBox="1"/>
          <p:nvPr/>
        </p:nvSpPr>
        <p:spPr>
          <a:xfrm>
            <a:off x="1682496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3FD943F-5983-CA94-ECE1-27AC20DAF562}"/>
              </a:ext>
            </a:extLst>
          </p:cNvPr>
          <p:cNvSpPr txBox="1"/>
          <p:nvPr/>
        </p:nvSpPr>
        <p:spPr>
          <a:xfrm>
            <a:off x="3511296" y="1325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BCADF93E-E9C4-D655-156C-E16A307B99AB}"/>
              </a:ext>
            </a:extLst>
          </p:cNvPr>
          <p:cNvSpPr/>
          <p:nvPr/>
        </p:nvSpPr>
        <p:spPr>
          <a:xfrm>
            <a:off x="4014216" y="132588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FDC29913-2245-FBB5-4C45-3B3FF6B8FACA}"/>
              </a:ext>
            </a:extLst>
          </p:cNvPr>
          <p:cNvSpPr txBox="1"/>
          <p:nvPr/>
        </p:nvSpPr>
        <p:spPr>
          <a:xfrm>
            <a:off x="4014216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3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5BFC936B-8C6F-A384-3C01-7D7A5B393900}"/>
              </a:ext>
            </a:extLst>
          </p:cNvPr>
          <p:cNvSpPr txBox="1"/>
          <p:nvPr/>
        </p:nvSpPr>
        <p:spPr>
          <a:xfrm>
            <a:off x="5843016" y="1325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EEE01662-39C6-D476-E6AC-7BB8F094D406}"/>
              </a:ext>
            </a:extLst>
          </p:cNvPr>
          <p:cNvSpPr/>
          <p:nvPr/>
        </p:nvSpPr>
        <p:spPr>
          <a:xfrm>
            <a:off x="6345936" y="132588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514B5A7-CB9D-4F17-1050-C665027BCC41}"/>
              </a:ext>
            </a:extLst>
          </p:cNvPr>
          <p:cNvSpPr txBox="1"/>
          <p:nvPr/>
        </p:nvSpPr>
        <p:spPr>
          <a:xfrm>
            <a:off x="6345936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72B0383D-8338-0A4C-D33D-6D0F57D06F3F}"/>
              </a:ext>
            </a:extLst>
          </p:cNvPr>
          <p:cNvSpPr txBox="1"/>
          <p:nvPr/>
        </p:nvSpPr>
        <p:spPr>
          <a:xfrm>
            <a:off x="8174736" y="13258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67172FB3-77F6-0480-99D2-96DB38DF3079}"/>
              </a:ext>
            </a:extLst>
          </p:cNvPr>
          <p:cNvSpPr/>
          <p:nvPr/>
        </p:nvSpPr>
        <p:spPr>
          <a:xfrm>
            <a:off x="8677656" y="1325880"/>
            <a:ext cx="18288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F16CA1B1-50B7-3BE0-5148-F2A819859827}"/>
              </a:ext>
            </a:extLst>
          </p:cNvPr>
          <p:cNvSpPr txBox="1"/>
          <p:nvPr/>
        </p:nvSpPr>
        <p:spPr>
          <a:xfrm>
            <a:off x="8677656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91385AC1-4A92-318F-CC14-625A5A9799C6}"/>
              </a:ext>
            </a:extLst>
          </p:cNvPr>
          <p:cNvSpPr/>
          <p:nvPr/>
        </p:nvSpPr>
        <p:spPr>
          <a:xfrm>
            <a:off x="457200" y="2148840"/>
            <a:ext cx="3636264" cy="203454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853305CB-DE0F-3C9B-D23D-2F7E8421A1FE}"/>
              </a:ext>
            </a:extLst>
          </p:cNvPr>
          <p:cNvSpPr txBox="1"/>
          <p:nvPr/>
        </p:nvSpPr>
        <p:spPr>
          <a:xfrm>
            <a:off x="621792" y="2258568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468B5D2A-6E71-75EB-C6A1-CE3F1FFF9F45}"/>
              </a:ext>
            </a:extLst>
          </p:cNvPr>
          <p:cNvSpPr txBox="1"/>
          <p:nvPr/>
        </p:nvSpPr>
        <p:spPr>
          <a:xfrm>
            <a:off x="621792" y="2569464"/>
            <a:ext cx="3307080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 (REST API framework)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JWT-based authentication, guest mode, rate limiting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(persistent storage for user history)</a:t>
            </a:r>
            <a:endParaRPr lang="en-US" sz="1100" dirty="0"/>
          </a:p>
        </p:txBody>
      </p:sp>
      <p:sp>
        <p:nvSpPr>
          <p:cNvPr id="32" name="Shape 16">
            <a:extLst>
              <a:ext uri="{FF2B5EF4-FFF2-40B4-BE49-F238E27FC236}">
                <a16:creationId xmlns:a16="http://schemas.microsoft.com/office/drawing/2014/main" id="{BEA8FE12-7451-212C-94C4-F5B1140BC435}"/>
              </a:ext>
            </a:extLst>
          </p:cNvPr>
          <p:cNvSpPr/>
          <p:nvPr/>
        </p:nvSpPr>
        <p:spPr>
          <a:xfrm>
            <a:off x="4276344" y="2148840"/>
            <a:ext cx="3636264" cy="203454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3866535E-D379-A0DD-8F76-0A2851D5F2CB}"/>
              </a:ext>
            </a:extLst>
          </p:cNvPr>
          <p:cNvSpPr txBox="1"/>
          <p:nvPr/>
        </p:nvSpPr>
        <p:spPr>
          <a:xfrm>
            <a:off x="4440936" y="2258568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Data Sources</a:t>
            </a:r>
            <a:endParaRPr lang="en-US" sz="1400" dirty="0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F52BAE75-37CD-27B1-5638-788DA1DA1C01}"/>
              </a:ext>
            </a:extLst>
          </p:cNvPr>
          <p:cNvSpPr txBox="1"/>
          <p:nvPr/>
        </p:nvSpPr>
        <p:spPr>
          <a:xfrm>
            <a:off x="4440936" y="2569464"/>
            <a:ext cx="3307080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SerpAPI / NewsAPI (news search)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 RSS (free, no-API-key feed)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HTML search (general web)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(background / context)</a:t>
            </a:r>
            <a:endParaRPr lang="en-US" sz="1100" dirty="0"/>
          </a:p>
        </p:txBody>
      </p:sp>
      <p:sp>
        <p:nvSpPr>
          <p:cNvPr id="38" name="Shape 19">
            <a:extLst>
              <a:ext uri="{FF2B5EF4-FFF2-40B4-BE49-F238E27FC236}">
                <a16:creationId xmlns:a16="http://schemas.microsoft.com/office/drawing/2014/main" id="{C2DE6163-BDA1-2F37-F50B-FC6DD41ED699}"/>
              </a:ext>
            </a:extLst>
          </p:cNvPr>
          <p:cNvSpPr/>
          <p:nvPr/>
        </p:nvSpPr>
        <p:spPr>
          <a:xfrm>
            <a:off x="8095488" y="2148840"/>
            <a:ext cx="3636264" cy="203454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C4D1BECB-2A07-71BE-22CE-4B3AE8E4E705}"/>
              </a:ext>
            </a:extLst>
          </p:cNvPr>
          <p:cNvSpPr txBox="1"/>
          <p:nvPr/>
        </p:nvSpPr>
        <p:spPr>
          <a:xfrm>
            <a:off x="8260080" y="2258568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&amp; NLP</a:t>
            </a:r>
            <a:endParaRPr lang="en-US" sz="1400" dirty="0"/>
          </a:p>
        </p:txBody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90844D27-3683-1E72-A4DB-0BEB4A27FBD3}"/>
              </a:ext>
            </a:extLst>
          </p:cNvPr>
          <p:cNvSpPr txBox="1"/>
          <p:nvPr/>
        </p:nvSpPr>
        <p:spPr>
          <a:xfrm>
            <a:off x="8260080" y="2569464"/>
            <a:ext cx="3307080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/ requests for HTML parsing and article text extraction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layer to avoid redundant re-scraping of the same URL</a:t>
            </a:r>
            <a:endParaRPr lang="en-US" sz="110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1BCF0413-62A7-CE66-0B19-F994FD76C730}"/>
              </a:ext>
            </a:extLst>
          </p:cNvPr>
          <p:cNvSpPr/>
          <p:nvPr/>
        </p:nvSpPr>
        <p:spPr>
          <a:xfrm>
            <a:off x="457200" y="4366260"/>
            <a:ext cx="3636264" cy="203454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87D52CF6-7042-8671-96AC-EBD0F8FE9648}"/>
              </a:ext>
            </a:extLst>
          </p:cNvPr>
          <p:cNvSpPr txBox="1"/>
          <p:nvPr/>
        </p:nvSpPr>
        <p:spPr>
          <a:xfrm>
            <a:off x="621792" y="4475988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738C35FE-D25F-0006-2687-423BF83A88B2}"/>
              </a:ext>
            </a:extLst>
          </p:cNvPr>
          <p:cNvSpPr txBox="1"/>
          <p:nvPr/>
        </p:nvSpPr>
        <p:spPr>
          <a:xfrm>
            <a:off x="621792" y="4786884"/>
            <a:ext cx="3307080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Groq-hosted LLM for claim-vs-evidence reasoning and summarization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models for image-related verification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AssemblyAI for speech-to-text (voice claims)</a:t>
            </a:r>
            <a:endParaRPr lang="en-US" sz="1100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C70DC90F-DAAC-C11E-4CF2-305331B33621}"/>
              </a:ext>
            </a:extLst>
          </p:cNvPr>
          <p:cNvSpPr/>
          <p:nvPr/>
        </p:nvSpPr>
        <p:spPr>
          <a:xfrm>
            <a:off x="4276344" y="4366260"/>
            <a:ext cx="3636264" cy="203454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9078CC6E-9E46-D06C-4F37-84D078FDE540}"/>
              </a:ext>
            </a:extLst>
          </p:cNvPr>
          <p:cNvSpPr txBox="1"/>
          <p:nvPr/>
        </p:nvSpPr>
        <p:spPr>
          <a:xfrm>
            <a:off x="4440936" y="4475988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Scoring</a:t>
            </a:r>
            <a:endParaRPr lang="en-US" sz="1400" dirty="0"/>
          </a:p>
        </p:txBody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53740AEF-01CB-E4FF-6032-A77E65F923FF}"/>
              </a:ext>
            </a:extLst>
          </p:cNvPr>
          <p:cNvSpPr txBox="1"/>
          <p:nvPr/>
        </p:nvSpPr>
        <p:spPr>
          <a:xfrm>
            <a:off x="4440936" y="4786884"/>
            <a:ext cx="3307080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scoring agent weighing source agreement, source count, and excerpt relevance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into a 0–100 trust score mapped to a five-level verdict scale</a:t>
            </a:r>
            <a:endParaRPr lang="en-US" sz="1100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ADB985DC-D408-9E31-FCED-DBCD59B80F1F}"/>
              </a:ext>
            </a:extLst>
          </p:cNvPr>
          <p:cNvSpPr/>
          <p:nvPr/>
        </p:nvSpPr>
        <p:spPr>
          <a:xfrm>
            <a:off x="8095488" y="4366260"/>
            <a:ext cx="3636264" cy="203454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703E2771-DA02-8C48-707C-D0FE8D4D9D22}"/>
              </a:ext>
            </a:extLst>
          </p:cNvPr>
          <p:cNvSpPr txBox="1"/>
          <p:nvPr/>
        </p:nvSpPr>
        <p:spPr>
          <a:xfrm>
            <a:off x="8260080" y="4475988"/>
            <a:ext cx="3307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35D946DC-7EDE-B7BB-2D45-4D5E00982285}"/>
              </a:ext>
            </a:extLst>
          </p:cNvPr>
          <p:cNvSpPr txBox="1"/>
          <p:nvPr/>
        </p:nvSpPr>
        <p:spPr>
          <a:xfrm>
            <a:off x="8260080" y="4786884"/>
            <a:ext cx="3307080" cy="1504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CSS UI (amber/teal theme)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“agent pipeline” status indicator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▪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PDF report generation (jsPDF)</a:t>
            </a:r>
            <a:endParaRPr lang="en-US" sz="110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8115C953-C9BA-A470-8B3C-FBDE74BF8108}"/>
              </a:ext>
            </a:extLst>
          </p:cNvPr>
          <p:cNvCxnSpPr>
            <a:cxnSpLocks/>
          </p:cNvCxnSpPr>
          <p:nvPr/>
        </p:nvCxnSpPr>
        <p:spPr>
          <a:xfrm>
            <a:off x="275972" y="1097280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6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C8B35-D77D-EA62-CFAF-2240098240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31FF10-51A9-67FC-927D-4B0424A65E42}"/>
              </a:ext>
            </a:extLst>
          </p:cNvPr>
          <p:cNvSpPr txBox="1"/>
          <p:nvPr/>
        </p:nvSpPr>
        <p:spPr>
          <a:xfrm>
            <a:off x="492550" y="1193138"/>
            <a:ext cx="10734774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successfully retrieves and cross-references more than 10 independent sources per claim, rather than relying on a single article.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Switching from a single generic search API to a combination of dedicated news search, general web search, and encyclopedic sources significantly improved the relevance of retrieved evidence.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AI summarization step produces human-readable justifications, making the verdict explainable rather than a black box — e.g. clearly stating when evidence is insufficient instead of guessing.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trust score and verdict reliably reflect the strength and consistency of evidence across sources: claims with multiple corroborating sources scored high (Real/Likely Real); claims with sparse or contradictory sources were correctly flagged as Unverified.</a:t>
            </a:r>
          </a:p>
          <a:p>
            <a:pPr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Average end-to-end verification time per claim stayed within a few seconds, demonstrating feasibility for near real-time use.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6965F2-A60D-F4DA-9965-EFA1BDB66ED0}"/>
              </a:ext>
            </a:extLst>
          </p:cNvPr>
          <p:cNvCxnSpPr>
            <a:cxnSpLocks/>
          </p:cNvCxnSpPr>
          <p:nvPr/>
        </p:nvCxnSpPr>
        <p:spPr>
          <a:xfrm>
            <a:off x="255996" y="1193138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9BE4C12-33DC-E58E-A8AB-94AE35D36174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0" name="Picture 9" descr="LTM Limited (Formerly LTIMindtree Limited)">
            <a:extLst>
              <a:ext uri="{FF2B5EF4-FFF2-40B4-BE49-F238E27FC236}">
                <a16:creationId xmlns:a16="http://schemas.microsoft.com/office/drawing/2014/main" id="{484C182F-64D0-9CD3-D1F9-AC6E1B2BE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2F17251-0B18-B40F-2D5B-A0416B7750ED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2234964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89DC3-C617-B6F6-DDA6-89A6C3E33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103BB-9679-45B9-CE98-76849C5508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9052" y="563537"/>
            <a:ext cx="10624338" cy="444565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fr-FR" sz="3600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  <a:endParaRPr lang="en-IN" sz="3600" dirty="0">
              <a:solidFill>
                <a:srgbClr val="5B9BD5">
                  <a:lumMod val="50000"/>
                </a:srgbClr>
              </a:solidFill>
              <a:latin typeface="Calibri" panose="020F0502020204030204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B3D944-8F5C-6BBC-B327-0010147A0E8C}"/>
              </a:ext>
            </a:extLst>
          </p:cNvPr>
          <p:cNvSpPr txBox="1"/>
          <p:nvPr/>
        </p:nvSpPr>
        <p:spPr>
          <a:xfrm>
            <a:off x="529307" y="1691020"/>
            <a:ext cx="10624338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I sincerely thank </a:t>
            </a:r>
            <a:r>
              <a:rPr lang="en-US" sz="2000" b="1" dirty="0"/>
              <a:t>LTM and L&amp;T </a:t>
            </a:r>
            <a:r>
              <a:rPr lang="en-US" sz="2000" b="1" dirty="0" err="1"/>
              <a:t>EduTech</a:t>
            </a:r>
            <a:r>
              <a:rPr lang="en-US" sz="2000" dirty="0"/>
              <a:t> for providing the infrastructure, laptop, training room, ID card, and a valuable 2-month opportunity to enhance my technical skills through practical project development. I express my special gratitude to </a:t>
            </a:r>
            <a:r>
              <a:rPr lang="en-US" sz="2000" b="1" dirty="0"/>
              <a:t>Dr. Ganesh</a:t>
            </a:r>
            <a:r>
              <a:rPr lang="en-US" sz="2000" dirty="0"/>
              <a:t> for his continuous guidance, valuable suggestions, and support in improving my project. I also thank the </a:t>
            </a:r>
            <a:r>
              <a:rPr lang="en-US" sz="2000" b="1" dirty="0"/>
              <a:t>Classroom Managers</a:t>
            </a:r>
            <a:r>
              <a:rPr lang="en-US" sz="2000" dirty="0"/>
              <a:t> for their daily monitoring, coordination, and assistance in resolving issues. Finally, my special thanks to </a:t>
            </a:r>
            <a:r>
              <a:rPr lang="en-US" sz="2000" b="1" dirty="0"/>
              <a:t>Mr. Jayakanthan, Manager – Delivery Operations, L&amp;T </a:t>
            </a:r>
            <a:r>
              <a:rPr lang="en-US" sz="2000" b="1" dirty="0" err="1"/>
              <a:t>EduTech</a:t>
            </a:r>
            <a:r>
              <a:rPr lang="en-US" sz="2000" dirty="0"/>
              <a:t>, for his encouragement, support, and for providing this valuable opportunity.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DEE579-F7F3-1D57-E071-BC22CD68324D}"/>
              </a:ext>
            </a:extLst>
          </p:cNvPr>
          <p:cNvCxnSpPr>
            <a:cxnSpLocks/>
          </p:cNvCxnSpPr>
          <p:nvPr/>
        </p:nvCxnSpPr>
        <p:spPr>
          <a:xfrm>
            <a:off x="435105" y="124969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13F1EF5-4C5B-061E-B4B5-DF74255504D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4" descr="LTM Limited (Formerly LTIMindtree Limited)">
            <a:extLst>
              <a:ext uri="{FF2B5EF4-FFF2-40B4-BE49-F238E27FC236}">
                <a16:creationId xmlns:a16="http://schemas.microsoft.com/office/drawing/2014/main" id="{CB14DF39-EF27-E801-49FC-B9981C983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93B443-DCDF-2B5E-00FC-DC296C62E9EC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343740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6F50E-C258-B162-4A11-E247DCB22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072D6-29F3-79BC-0501-51EBD042BD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N" sz="3600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F5165-C799-6139-49C6-D192E61DB5F5}"/>
              </a:ext>
            </a:extLst>
          </p:cNvPr>
          <p:cNvSpPr txBox="1"/>
          <p:nvPr/>
        </p:nvSpPr>
        <p:spPr>
          <a:xfrm>
            <a:off x="435989" y="1334540"/>
            <a:ext cx="10734774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Fake News Verifier Agent demonstrates that a multi-agent architecture combining search, web scraping, trust scoring, and LLM-based reasoning can automate a meaningful part of the fact-checking process.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By grounding every verdict in cited, scraped source excerpts, the system stays explainable and auditable rather than acting as an opaque classifier.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Supporting text, URL, and voice input makes the tool accessible across different real-world use cases, such as checking a forwarded WhatsApp message or a shared article link.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Future work could include multilingual claim verification, image/video claim verification, browser-extension integration for one-click checking, and fine-tuning the trust-scoring model on a labeled fact-checking dataset for higher precision.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13D7966-3D44-383C-49FD-23056F7F5666}"/>
              </a:ext>
            </a:extLst>
          </p:cNvPr>
          <p:cNvCxnSpPr>
            <a:cxnSpLocks/>
          </p:cNvCxnSpPr>
          <p:nvPr/>
        </p:nvCxnSpPr>
        <p:spPr>
          <a:xfrm>
            <a:off x="435105" y="1249699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E3F9D1C-B42C-C698-F08E-02137501EB48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" name="Picture 4" descr="LTM Limited (Formerly LTIMindtree Limited)">
            <a:extLst>
              <a:ext uri="{FF2B5EF4-FFF2-40B4-BE49-F238E27FC236}">
                <a16:creationId xmlns:a16="http://schemas.microsoft.com/office/drawing/2014/main" id="{1AE5F2E5-D878-3394-12C5-D44AA926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3F2B69-4EB2-25ED-8131-82390C6E90F5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3698831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ABC790-CE09-064B-ECC5-8D99380CC0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653" y="716048"/>
            <a:ext cx="10624338" cy="444565"/>
          </a:xfrm>
        </p:spPr>
        <p:txBody>
          <a:bodyPr/>
          <a:lstStyle/>
          <a:p>
            <a:pPr marL="0" indent="0">
              <a:buNone/>
            </a:pPr>
            <a:r>
              <a:rPr lang="en-GB" sz="360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Result:</a:t>
            </a:r>
            <a:endParaRPr lang="en-IN" sz="3600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9EA97-4605-FEBC-A38D-352AABE29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994" y="857433"/>
            <a:ext cx="8051383" cy="45270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25F908C-CCB6-3301-79B2-5FD45D574763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9" name="Picture 8" descr="LTM Limited (Formerly LTIMindtree Limited)">
            <a:extLst>
              <a:ext uri="{FF2B5EF4-FFF2-40B4-BE49-F238E27FC236}">
                <a16:creationId xmlns:a16="http://schemas.microsoft.com/office/drawing/2014/main" id="{E6F7F78B-82A0-7FF7-00FE-C02FFA6DF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C87666-228C-FAE0-55B4-83CFEA741432}"/>
              </a:ext>
            </a:extLst>
          </p:cNvPr>
          <p:cNvSpPr txBox="1"/>
          <p:nvPr/>
        </p:nvSpPr>
        <p:spPr>
          <a:xfrm>
            <a:off x="1862578" y="5631235"/>
            <a:ext cx="80513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https://fake-news-verifier-frontend-a6sb.onrender.com/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015F72-1381-061E-B0D6-08546D237A01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1896816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6C085-BE36-D5BA-F163-4293B39AD7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Reference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B65229-35A8-D2E4-295E-54549BBD3946}"/>
              </a:ext>
            </a:extLst>
          </p:cNvPr>
          <p:cNvSpPr txBox="1"/>
          <p:nvPr/>
        </p:nvSpPr>
        <p:spPr>
          <a:xfrm>
            <a:off x="662232" y="1105534"/>
            <a:ext cx="9028521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FastAPI</a:t>
            </a:r>
            <a:r>
              <a:rPr lang="en-IN" sz="2000" dirty="0"/>
              <a:t> Documentation — </a:t>
            </a:r>
            <a:r>
              <a:rPr lang="en-IN" sz="2000" dirty="0">
                <a:hlinkClick r:id="rId2"/>
              </a:rPr>
              <a:t>https://fastapi.tiangolo.com/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React Documentation — </a:t>
            </a:r>
            <a:r>
              <a:rPr lang="en-IN" sz="2000" dirty="0">
                <a:hlinkClick r:id="rId3"/>
              </a:rPr>
              <a:t>https://react.dev/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Groq</a:t>
            </a:r>
            <a:r>
              <a:rPr lang="en-IN" sz="2000" dirty="0"/>
              <a:t> API Documentation — </a:t>
            </a:r>
            <a:r>
              <a:rPr lang="en-IN" sz="2000" dirty="0">
                <a:hlinkClick r:id="rId4"/>
              </a:rPr>
              <a:t>https://console.groq.com/docs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SerpAPI</a:t>
            </a:r>
            <a:r>
              <a:rPr lang="en-IN" sz="2000" dirty="0"/>
              <a:t> Documentation — </a:t>
            </a:r>
            <a:r>
              <a:rPr lang="en-IN" sz="2000" dirty="0">
                <a:hlinkClick r:id="rId5"/>
              </a:rPr>
              <a:t>https://serpapi.com/search-api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NewsAPI</a:t>
            </a:r>
            <a:r>
              <a:rPr lang="en-IN" sz="2000" dirty="0"/>
              <a:t> Documentation — </a:t>
            </a:r>
            <a:r>
              <a:rPr lang="en-IN" sz="2000" dirty="0">
                <a:hlinkClick r:id="rId6"/>
              </a:rPr>
              <a:t>https://newsapi.org/docs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DuckDuckGo HTML Search — </a:t>
            </a:r>
            <a:r>
              <a:rPr lang="en-IN" sz="2000" dirty="0">
                <a:hlinkClick r:id="rId7"/>
              </a:rPr>
              <a:t>https://html.duckduckgo.com/html/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AssemblyAI</a:t>
            </a:r>
            <a:r>
              <a:rPr lang="en-IN" sz="2000" dirty="0"/>
              <a:t> Speech-to-Text Documentation — </a:t>
            </a:r>
            <a:r>
              <a:rPr lang="en-IN" sz="2000" dirty="0">
                <a:hlinkClick r:id="rId8"/>
              </a:rPr>
              <a:t>https://www.assemblyai.com/docs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HuggingFace</a:t>
            </a:r>
            <a:r>
              <a:rPr lang="en-IN" sz="2000" dirty="0"/>
              <a:t> Models — </a:t>
            </a:r>
            <a:r>
              <a:rPr lang="en-IN" sz="2000" dirty="0">
                <a:hlinkClick r:id="rId9"/>
              </a:rPr>
              <a:t>https://huggingface.co/models</a:t>
            </a:r>
            <a:endParaRPr lang="en-IN" sz="2000" dirty="0"/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/>
              <a:t>Shu, K., Sliva, A., Wang, S., Tang, J., &amp; Liu, H. (2017). </a:t>
            </a:r>
            <a:r>
              <a:rPr lang="en-IN" sz="2000" i="1" dirty="0"/>
              <a:t>Fake News Detection on Social Media: A Data Mining Perspective.</a:t>
            </a:r>
            <a:r>
              <a:rPr lang="en-IN" sz="2000" dirty="0"/>
              <a:t> ACM SIGKDD Explorations.</a:t>
            </a:r>
          </a:p>
          <a:p>
            <a:pPr marL="342900" indent="-342900" rtl="0">
              <a:lnSpc>
                <a:spcPct val="150000"/>
              </a:lnSpc>
              <a:buFont typeface="+mj-lt"/>
              <a:buAutoNum type="arabicPeriod"/>
            </a:pPr>
            <a:r>
              <a:rPr lang="en-IN" sz="2000" dirty="0" err="1"/>
              <a:t>jsPDF</a:t>
            </a:r>
            <a:r>
              <a:rPr lang="en-IN" sz="2000" dirty="0"/>
              <a:t> Library — </a:t>
            </a:r>
            <a:r>
              <a:rPr lang="en-IN" sz="2000" dirty="0">
                <a:hlinkClick r:id="rId10"/>
              </a:rPr>
              <a:t>https://github.com/parallax/jsPDF</a:t>
            </a:r>
            <a:endParaRPr lang="en-IN" sz="2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E10E11-64D7-B9E2-FB28-F9DBFE5C9C7C}"/>
              </a:ext>
            </a:extLst>
          </p:cNvPr>
          <p:cNvSpPr/>
          <p:nvPr/>
        </p:nvSpPr>
        <p:spPr>
          <a:xfrm>
            <a:off x="10546976" y="6550694"/>
            <a:ext cx="1645024" cy="307306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11" name="Picture 10" descr="LTM Limited (Formerly LTIMindtree Limited)">
            <a:extLst>
              <a:ext uri="{FF2B5EF4-FFF2-40B4-BE49-F238E27FC236}">
                <a16:creationId xmlns:a16="http://schemas.microsoft.com/office/drawing/2014/main" id="{2C9459B0-8530-FBF3-FFFE-6EB294859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884" y="6611556"/>
            <a:ext cx="705207" cy="185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BF380A-66C2-A1A1-17AE-16A30B1BCF69}"/>
              </a:ext>
            </a:extLst>
          </p:cNvPr>
          <p:cNvSpPr txBox="1"/>
          <p:nvPr/>
        </p:nvSpPr>
        <p:spPr>
          <a:xfrm>
            <a:off x="4478183" y="0"/>
            <a:ext cx="8279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Agentic AI Multi-Agent Architecture for Automated Fake News Verification</a:t>
            </a:r>
          </a:p>
        </p:txBody>
      </p:sp>
    </p:spTree>
    <p:extLst>
      <p:ext uri="{BB962C8B-B14F-4D97-AF65-F5344CB8AC3E}">
        <p14:creationId xmlns:p14="http://schemas.microsoft.com/office/powerpoint/2010/main" val="332605154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4355</TotalTime>
  <Words>2539</Words>
  <Application>Microsoft Office PowerPoint</Application>
  <PresentationFormat>Widescreen</PresentationFormat>
  <Paragraphs>238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(Body)</vt:lpstr>
      <vt:lpstr>Cambria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Vinoth KannaS</cp:lastModifiedBy>
  <cp:revision>23</cp:revision>
  <dcterms:created xsi:type="dcterms:W3CDTF">2024-05-13T10:33:11Z</dcterms:created>
  <dcterms:modified xsi:type="dcterms:W3CDTF">2026-10-08T03:47:12Z</dcterms:modified>
</cp:coreProperties>
</file>